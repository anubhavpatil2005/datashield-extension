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43800" y="960120"/>
            <a:ext cx="3886200" cy="489204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 rot="10800000">
            <a:off x="8732520" y="1600200"/>
            <a:ext cx="1508760" cy="1508760"/>
          </a:xfrm>
          <a:prstGeom prst="homePlate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42832" y="1965960"/>
            <a:ext cx="109728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 i="0">
                <a:solidFill>
                  <a:srgbClr val="302B27"/>
                </a:solidFill>
                <a:latin typeface="Aptos"/>
              </a:rPr>
              <a:t>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520440"/>
            <a:ext cx="30175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SENSITIVE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3913632"/>
            <a:ext cx="30175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CC550F"/>
                </a:solidFill>
                <a:latin typeface="Aptos"/>
              </a:rPr>
              <a:t>FLOW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49808"/>
            <a:ext cx="5486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C550F"/>
                </a:solidFill>
                <a:latin typeface="Aptos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492240" cy="14173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302B27"/>
                </a:solidFill>
                <a:latin typeface="Aptos"/>
              </a:rPr>
              <a:t>DataShield &amp;</a:t>
            </a:r>
          </a:p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302B27"/>
                </a:solidFill>
                <a:latin typeface="Aptos"/>
              </a:rPr>
              <a:t>Privacy Flow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621792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635B54"/>
                </a:solidFill>
                <a:latin typeface="Aptos"/>
              </a:rPr>
              <a:t>A Chrome extension that warns about sensitive data and makes outgoing data flows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4471416"/>
            <a:ext cx="1435607" cy="20116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302B27"/>
                </a:solidFill>
                <a:latin typeface="Aptos"/>
              </a:rPr>
              <a:t>MANIFEST V3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434840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9736" y="4471416"/>
            <a:ext cx="1252728" cy="20116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302B27"/>
                </a:solidFill>
                <a:latin typeface="Aptos"/>
              </a:rPr>
              <a:t>JAVASCRIPT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443484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2776" y="4471416"/>
            <a:ext cx="1344168" cy="20116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302B27"/>
                </a:solidFill>
                <a:latin typeface="Aptos"/>
              </a:rPr>
              <a:t>CLIENT-SIDE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64008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5B54"/>
                </a:solidFill>
                <a:latin typeface="Aptos"/>
              </a:rPr>
              <a:t>Overview • Features • Architecture •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0292" cy="1874519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4650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What is DataShield?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30552"/>
            <a:ext cx="3191256" cy="127101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A Chrome Manifest V3 extension for detecting sensitive data entry and tracking privacy-safe metadata about outgoing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50292" cy="1874519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4650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Where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30552"/>
            <a:ext cx="3191256" cy="127101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Runs in the browser, observes supported page interactions and network APIs, and presents recent flow events in its popup.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50292" cy="1874519"/>
          </a:xfrm>
          <a:prstGeom prst="rect">
            <a:avLst/>
          </a:prstGeom>
          <a:solidFill>
            <a:srgbClr val="2391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4650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Core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0552"/>
            <a:ext cx="3191256" cy="127101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Record categories and routing metadata—not raw form values or request bodies.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10927080" cy="141732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78808"/>
            <a:ext cx="1028700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 i="0">
                <a:solidFill>
                  <a:srgbClr val="302B27"/>
                </a:solidFill>
                <a:latin typeface="Aptos"/>
              </a:rPr>
              <a:t>Goal: help users notice sensitive information before submission and understand where it may be 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02 •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45920"/>
            <a:ext cx="6291072" cy="79552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02B27"/>
                </a:solidFill>
                <a:latin typeface="Aptos"/>
              </a:rPr>
              <a:t>Forms can contain payment, identity, contact, or credential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68880"/>
            <a:ext cx="6291072" cy="79552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02B27"/>
                </a:solidFill>
                <a:latin typeface="Aptos"/>
              </a:rPr>
              <a:t>Users may not notice when sensitive values go to an unexpected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0156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291840"/>
            <a:ext cx="6291072" cy="79552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02B27"/>
                </a:solidFill>
                <a:latin typeface="Aptos"/>
              </a:rPr>
              <a:t>Third-party scripts and APIs can send data through multiple browser networking mechanisms.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2452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114800"/>
            <a:ext cx="6291072" cy="79552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02B27"/>
                </a:solidFill>
                <a:latin typeface="Aptos"/>
              </a:rPr>
              <a:t>Browser interfaces offer limited at-a-glance visibility into these 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691640"/>
            <a:ext cx="3429000" cy="361188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011680"/>
            <a:ext cx="28803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CC550F"/>
                </a:solidFill>
                <a:latin typeface="Aptos"/>
              </a:rPr>
              <a:t>THE VISIBILITY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2697480" cy="16002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302B27"/>
                </a:solidFill>
                <a:latin typeface="Aptos"/>
              </a:rPr>
              <a:t>Sensitive input</a:t>
            </a:r>
          </a:p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302B27"/>
                </a:solidFill>
                <a:latin typeface="Aptos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302B27"/>
                </a:solidFill>
                <a:latin typeface="Aptos"/>
              </a:rPr>
              <a:t>Unclear destination</a:t>
            </a:r>
          </a:p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302B27"/>
                </a:solidFill>
                <a:latin typeface="Aptos"/>
              </a:rPr>
              <a:t>↓</a:t>
            </a:r>
          </a:p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302B27"/>
                </a:solidFill>
                <a:latin typeface="Aptos"/>
              </a:rPr>
              <a:t>Potential 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754880"/>
            <a:ext cx="28803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CC550F"/>
                </a:solidFill>
                <a:latin typeface="Aptos"/>
              </a:rPr>
              <a:t>Warning + flow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03 •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0292" cy="150876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3099816" cy="90525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Identify sensitive-data patterns in inputs and outbound payloads.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0020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00200"/>
            <a:ext cx="50292" cy="150876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4650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Warn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30552"/>
            <a:ext cx="3099816" cy="90525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Highlight sensitive input and confirm potentially risky form submissions.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50292" cy="150876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4650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30552"/>
            <a:ext cx="3099816" cy="90525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Track supported fetch, XHR, sendBeacon, and WebSocket activity.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50292" cy="1508760"/>
          </a:xfrm>
          <a:prstGeom prst="rect">
            <a:avLst/>
          </a:prstGeom>
          <a:solidFill>
            <a:srgbClr val="2391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12463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96511"/>
            <a:ext cx="3099816" cy="90525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Support trusted/blocked domains and detector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5661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566160"/>
            <a:ext cx="50292" cy="1508760"/>
          </a:xfrm>
          <a:prstGeom prst="rect">
            <a:avLst/>
          </a:prstGeom>
          <a:solidFill>
            <a:srgbClr val="CD393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12463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96511"/>
            <a:ext cx="3099816" cy="90525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Display recent events and export metadata as JSON or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04 •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0292" cy="164592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0078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Inline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84831"/>
            <a:ext cx="3191256" cy="104241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Highlights inputs when sensitive patterns are detected.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50292" cy="164592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Submission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84831"/>
            <a:ext cx="3191256" cy="104241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Shows the destination and lets users cancel or proceed.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50292" cy="164592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0078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Network flow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84831"/>
            <a:ext cx="3191256" cy="104241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Observes fetch, XMLHttpRequest, sendBeacon, and WebSocket sends.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50292" cy="1645920"/>
          </a:xfrm>
          <a:prstGeom prst="rect">
            <a:avLst/>
          </a:prstGeom>
          <a:solidFill>
            <a:srgbClr val="2391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71246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Domain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096512"/>
            <a:ext cx="3191256" cy="104241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Labels destinations as first-party or third-party.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50292" cy="1645920"/>
          </a:xfrm>
          <a:prstGeom prst="rect">
            <a:avLst/>
          </a:prstGeom>
          <a:solidFill>
            <a:srgbClr val="CD393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71246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Local history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096512"/>
            <a:ext cx="3191256" cy="104241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Retention choices, clear history, and JSON/CSV export.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3520440" cy="164592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566160"/>
            <a:ext cx="50292" cy="164592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712464"/>
            <a:ext cx="319125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Custom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96512"/>
            <a:ext cx="3191256" cy="104241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User-defined regular expressions extend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05 • DETECTION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Sensitive Data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0292" cy="109728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55063"/>
            <a:ext cx="49286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Payment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39112"/>
            <a:ext cx="4928616" cy="4937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Candidate digit sequences checked with the Luhn algorithm.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0292" cy="109728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55063"/>
            <a:ext cx="49286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Email addresses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39112"/>
            <a:ext cx="4928616" cy="4937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Pattern matching for common email formats.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62072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62072"/>
            <a:ext cx="50292" cy="109728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008376"/>
            <a:ext cx="49286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Phone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92424"/>
            <a:ext cx="4928616" cy="4937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Pattern matching for common phone formats.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62072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862072"/>
            <a:ext cx="50292" cy="109728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08376"/>
            <a:ext cx="49286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US SSNs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92424"/>
            <a:ext cx="4928616" cy="4937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Recognizes the 123-45-6789 style pattern.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15383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15383"/>
            <a:ext cx="50292" cy="109728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361688"/>
            <a:ext cx="49286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API keys /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745736"/>
            <a:ext cx="4928616" cy="4937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Looks for labels such as api_key, access_token, secret_key, and bearer.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15383"/>
            <a:ext cx="5257800" cy="10972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215383"/>
            <a:ext cx="50292" cy="109728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361688"/>
            <a:ext cx="49286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Custom regex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45736"/>
            <a:ext cx="4928616" cy="4937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User-configured regular expressions add new data patterns.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52160"/>
            <a:ext cx="1078992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CC550F"/>
                </a:solidFill>
                <a:latin typeface="Aptos"/>
              </a:rPr>
              <a:t>Pattern-based detection can produce false positives and may miss formats it does not recognize.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06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How DataShield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07592" y="162763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709928"/>
            <a:ext cx="53035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302B27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87168"/>
            <a:ext cx="17373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User types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or submits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7752" y="2834640"/>
            <a:ext cx="265176" cy="0"/>
          </a:xfrm>
          <a:prstGeom prst="line">
            <a:avLst/>
          </a:prstGeom>
          <a:ln w="25400">
            <a:solidFill>
              <a:srgbClr val="F2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79" y="21488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1" y="162763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1" y="1709928"/>
            <a:ext cx="53035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302B27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487168"/>
            <a:ext cx="17373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Content script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checks patterns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9472" y="2834640"/>
            <a:ext cx="265176" cy="0"/>
          </a:xfrm>
          <a:prstGeom prst="line">
            <a:avLst/>
          </a:prstGeom>
          <a:ln w="25400">
            <a:solidFill>
              <a:srgbClr val="F2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57800" y="21488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71032" y="162763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1709928"/>
            <a:ext cx="53035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302B27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487168"/>
            <a:ext cx="17373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Page hook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observes network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51192" y="2834640"/>
            <a:ext cx="265176" cy="0"/>
          </a:xfrm>
          <a:prstGeom prst="line">
            <a:avLst/>
          </a:prstGeom>
          <a:ln w="25400">
            <a:solidFill>
              <a:srgbClr val="F2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89519" y="21488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02751" y="162763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1" y="1709928"/>
            <a:ext cx="53035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302B27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7" y="2487168"/>
            <a:ext cx="17373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Background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applies rules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82911" y="2834640"/>
            <a:ext cx="265177" cy="0"/>
          </a:xfrm>
          <a:prstGeom prst="line">
            <a:avLst/>
          </a:prstGeom>
          <a:ln w="25400">
            <a:solidFill>
              <a:srgbClr val="F2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21240" y="21488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34472" y="1627632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34472" y="1709928"/>
            <a:ext cx="530352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302B27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7" y="2487168"/>
            <a:ext cx="17373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Local log +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02B27"/>
                </a:solidFill>
                <a:latin typeface="Aptos"/>
              </a:rPr>
              <a:t>popup 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297680"/>
            <a:ext cx="10561320" cy="8686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526280"/>
            <a:ext cx="1010412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35B54"/>
                </a:solidFill>
                <a:latin typeface="Aptos"/>
              </a:rPr>
              <a:t>Flow records store domains, channel, detected categories, severity, timestamp, and blocked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07 •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0292" cy="132588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29169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Browser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2916936" cy="7223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Inputs, forms, network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50292" cy="132588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00784"/>
            <a:ext cx="29169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content.js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84831"/>
            <a:ext cx="2916936" cy="7223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Detects patterns and handles warnings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5448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554480"/>
            <a:ext cx="50292" cy="132588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700784"/>
            <a:ext cx="29169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page_hook.js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084831"/>
            <a:ext cx="2916936" cy="7223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Observes supported network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50292" cy="1325880"/>
          </a:xfrm>
          <a:prstGeom prst="rect">
            <a:avLst/>
          </a:prstGeom>
          <a:solidFill>
            <a:srgbClr val="2391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9624"/>
            <a:ext cx="29169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background.js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33672"/>
            <a:ext cx="2916936" cy="7223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Applies domain rules and stores metadata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0332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703320"/>
            <a:ext cx="50292" cy="1325880"/>
          </a:xfrm>
          <a:prstGeom prst="rect">
            <a:avLst/>
          </a:prstGeom>
          <a:solidFill>
            <a:srgbClr val="CD393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849624"/>
            <a:ext cx="29169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popup.html / popup.js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33672"/>
            <a:ext cx="2916936" cy="7223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Settings, recent flows, history and exports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70332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3703320"/>
            <a:ext cx="50292" cy="132588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9" y="3849624"/>
            <a:ext cx="29169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chrome.storage.local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4233672"/>
            <a:ext cx="2916936" cy="72237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Local settings and bounded event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6070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Technology: HTML, CSS, JavaScript, Chrome Manifest V3, and browser local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08 •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DataShield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1206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Local test bench</a:t>
            </a:r>
          </a:p>
        </p:txBody>
      </p:sp>
      <p:pic>
        <p:nvPicPr>
          <p:cNvPr id="7" name="Picture 6" descr="Screenshot 2026-10-17 1935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30303"/>
            <a:ext cx="5394960" cy="2866072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263640" y="1417320"/>
            <a:ext cx="51206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Extension popup and recent data travel</a:t>
            </a:r>
          </a:p>
        </p:txBody>
      </p:sp>
      <p:pic>
        <p:nvPicPr>
          <p:cNvPr id="9" name="Picture 8" descr="Screenshot 2026-10-17 1935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030" y="1783080"/>
            <a:ext cx="2895298" cy="4160520"/>
          </a:xfrm>
          <a:prstGeom prst="rect">
            <a:avLst/>
          </a:prstGeom>
          <a:ln>
            <a:solidFill/>
          </a:ln>
        </p:spPr>
      </p:pic>
      <p:sp>
        <p:nvSpPr>
          <p:cNvPr id="10" name="TextBox 9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CC550F"/>
                </a:solidFill>
                <a:latin typeface="Aptos"/>
              </a:rPr>
              <a:t>Screenshots supplied with the project; test values are illustrative.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09 •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Testing Form &amp; Network Interception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Screenshot 2026-10-17 19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00275"/>
            <a:ext cx="5486400" cy="2914650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Screenshot 2026-10-17 1936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914" y="1508760"/>
            <a:ext cx="3786691" cy="2011680"/>
          </a:xfrm>
          <a:prstGeom prst="rect">
            <a:avLst/>
          </a:prstGeom>
          <a:ln>
            <a:solidFill/>
          </a:ln>
        </p:spPr>
      </p:pic>
      <p:pic>
        <p:nvPicPr>
          <p:cNvPr id="8" name="Picture 7" descr="Screenshot 2026-10-17 1936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914" y="3703320"/>
            <a:ext cx="3786691" cy="2011680"/>
          </a:xfrm>
          <a:prstGeom prst="rect">
            <a:avLst/>
          </a:prstGeom>
          <a:ln>
            <a:solidFill/>
          </a:ln>
        </p:spPr>
      </p:pic>
      <p:sp>
        <p:nvSpPr>
          <p:cNvPr id="9" name="TextBox 8"/>
          <p:cNvSpPr txBox="1"/>
          <p:nvPr/>
        </p:nvSpPr>
        <p:spPr>
          <a:xfrm>
            <a:off x="777240" y="6080760"/>
            <a:ext cx="10515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35B54"/>
                </a:solidFill>
                <a:latin typeface="Aptos"/>
              </a:rPr>
              <a:t>The test bench triggers sample fetch and XHR requests; alerts confirm that test requests were initiated.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10 • DATA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Controls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" cy="1691640"/>
          </a:xfrm>
          <a:prstGeom prst="rect">
            <a:avLst/>
          </a:prstGeom>
          <a:solidFill>
            <a:srgbClr val="2391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Trusted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3099816" cy="108813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Configure hostnames that are treated as trusted destinations.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50292" cy="1691640"/>
          </a:xfrm>
          <a:prstGeom prst="rect">
            <a:avLst/>
          </a:prstGeom>
          <a:solidFill>
            <a:srgbClr val="CD393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Blocked 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76272"/>
            <a:ext cx="3099816" cy="108813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Configured destinations can trigger blocking on supported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50292" cy="169164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Detector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76272"/>
            <a:ext cx="3099816" cy="108813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Toggle cards, email, SSN, API keys, and phone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9592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886200"/>
            <a:ext cx="10131552" cy="47548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02B27"/>
                </a:solidFill>
                <a:latin typeface="Aptos"/>
              </a:rPr>
              <a:t>The design states that raw form values and request bodies are not stored.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9884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389120"/>
            <a:ext cx="10131552" cy="47548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02B27"/>
                </a:solidFill>
                <a:latin typeface="Aptos"/>
              </a:rPr>
              <a:t>Settings and recent flow entries are stored locally in chrome.storage.local.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0176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892040"/>
            <a:ext cx="10131552" cy="47548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02B27"/>
                </a:solidFill>
                <a:latin typeface="Aptos"/>
              </a:rPr>
              <a:t>Users can choose retention, export metadata, and clear history.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0468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394960"/>
            <a:ext cx="10131552" cy="47548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02B27"/>
                </a:solidFill>
                <a:latin typeface="Aptos"/>
              </a:rPr>
              <a:t>Blocking coverage is limited to observed paths; this is not a universal firewall.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11 • QUALITY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" cy="1874519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Detector unit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3099816" cy="127101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Node.js assertions cover Luhn-valid/invalid card numbers and email, SSN, and API-key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50292" cy="1874519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Manual test 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76272"/>
            <a:ext cx="3099816" cy="127101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Sample inputs demonstrate detection highlights; buttons trigger fetch and XHR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50292" cy="1874519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09981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What testing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76272"/>
            <a:ext cx="3099816" cy="1271015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Core detection cases and demonstration flows are covered; tests are not exhaustive integration tests.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10744200" cy="105156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07408"/>
            <a:ext cx="101498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302B27"/>
                </a:solidFill>
                <a:latin typeface="Aptos"/>
              </a:rPr>
              <a:t>Recommended next step: test across real sites, browser versions, edge-case formats, and allowed/blocked destinations.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12 •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164592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0292" cy="1645920"/>
          </a:xfrm>
          <a:prstGeom prst="rect">
            <a:avLst/>
          </a:prstGeom>
          <a:solidFill>
            <a:srgbClr val="CD393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488289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4882896" cy="104241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Pattern matching is heuristic; formats vary, and not every outbound channel or payload can be guaranteed to be observed.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12080" cy="164592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0292" cy="164592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46504"/>
            <a:ext cx="488289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30552"/>
            <a:ext cx="4882896" cy="104241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Broaden test coverage, improve configurable rules, add richer explanations, and refine destination policies.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9592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886200"/>
            <a:ext cx="10131552" cy="47548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02B27"/>
                </a:solidFill>
                <a:latin typeface="Aptos"/>
              </a:rPr>
              <a:t>Add more regression and browser integration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9884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389120"/>
            <a:ext cx="10131552" cy="47548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02B27"/>
                </a:solidFill>
                <a:latin typeface="Aptos"/>
              </a:rPr>
              <a:t>Provide clearer reasons for each detected pattern and severity.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00176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892040"/>
            <a:ext cx="10131552" cy="47548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02B27"/>
                </a:solidFill>
                <a:latin typeface="Aptos"/>
              </a:rPr>
              <a:t>Improve handling of complex forms and nested payloads.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50468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394960"/>
            <a:ext cx="10131552" cy="47548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02B27"/>
                </a:solidFill>
                <a:latin typeface="Aptos"/>
              </a:rPr>
              <a:t>Document permission scope and privacy behavior for users.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C550F"/>
                </a:solidFill>
                <a:latin typeface="Aptos"/>
              </a:rPr>
              <a:t>13 •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302B27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25296"/>
            <a:ext cx="658368" cy="41148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35B54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302B27"/>
                </a:solidFill>
                <a:latin typeface="Aptos"/>
              </a:rPr>
              <a:t>DataShield adds a practical layer of awareness around sensitive data in browser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2560320" cy="15544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50292" cy="155448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26664"/>
            <a:ext cx="22311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2"/>
            <a:ext cx="2231136" cy="95097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Recognizes selected sensitive-data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880360"/>
            <a:ext cx="2560320" cy="15544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880360"/>
            <a:ext cx="50292" cy="1554480"/>
          </a:xfrm>
          <a:prstGeom prst="rect">
            <a:avLst/>
          </a:prstGeom>
          <a:solidFill>
            <a:srgbClr val="CC550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026664"/>
            <a:ext cx="22311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Warn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10712"/>
            <a:ext cx="2231136" cy="95097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Highlights risky inputs and form destinations.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80360"/>
            <a:ext cx="2560320" cy="15544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880360"/>
            <a:ext cx="50292" cy="1554480"/>
          </a:xfrm>
          <a:prstGeom prst="rect">
            <a:avLst/>
          </a:prstGeom>
          <a:solidFill>
            <a:srgbClr val="F27D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026664"/>
            <a:ext cx="22311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10712"/>
            <a:ext cx="2231136" cy="95097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Makes supported outgoing flows easier to inspect.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880360"/>
            <a:ext cx="2560320" cy="1554480"/>
          </a:xfrm>
          <a:prstGeom prst="roundRect">
            <a:avLst>
              <a:gd name="adj" fmla="val 12000"/>
            </a:avLst>
          </a:prstGeom>
          <a:solidFill>
            <a:srgbClr val="FFF6E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880360"/>
            <a:ext cx="50292" cy="1554480"/>
          </a:xfrm>
          <a:prstGeom prst="rect">
            <a:avLst/>
          </a:prstGeom>
          <a:solidFill>
            <a:srgbClr val="2391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026664"/>
            <a:ext cx="2231136" cy="31089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02B27"/>
                </a:solidFill>
                <a:latin typeface="Aptos"/>
              </a:rPr>
              <a:t>Empower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10712"/>
            <a:ext cx="2231136" cy="950976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5B54"/>
                </a:solidFill>
                <a:latin typeface="Aptos"/>
              </a:rPr>
              <a:t>Keeps controls and metadata history in the user's hands.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5166360"/>
            <a:ext cx="8321040" cy="594360"/>
          </a:xfrm>
          <a:prstGeom prst="roundRect">
            <a:avLst>
              <a:gd name="adj" fmla="val 12000"/>
            </a:avLst>
          </a:prstGeom>
          <a:solidFill>
            <a:srgbClr val="FFEB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5321808"/>
            <a:ext cx="7955279" cy="29260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CC550F"/>
                </a:solidFill>
                <a:latin typeface="Aptos"/>
              </a:rPr>
              <a:t>Thank you • Questions?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64008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45720" rIns="45720" tIns="36576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35B54"/>
                </a:solidFill>
                <a:latin typeface="Aptos"/>
              </a:rPr>
              <a:t>DataShield &amp; Privacy Flow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